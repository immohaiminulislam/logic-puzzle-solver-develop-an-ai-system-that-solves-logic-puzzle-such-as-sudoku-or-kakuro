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Lato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610e75b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610e75b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610e75b9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610e75b9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610e75b9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610e75b9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610e75b9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610e75b9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610e75b9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610e75b9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610e75b9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610e75b9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610e75b99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a610e75b9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610e75b99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610e75b99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610e75b99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610e75b99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610e75b99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a610e75b9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610e75b99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a610e75b9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746825" y="816475"/>
            <a:ext cx="8499000" cy="1673400"/>
          </a:xfrm>
          <a:prstGeom prst="rect">
            <a:avLst/>
          </a:prstGeom>
          <a:effectLst>
            <a:outerShdw blurRad="57150" rotWithShape="0" algn="bl" dir="5580000" dist="171450">
              <a:srgbClr val="000000">
                <a:alpha val="40000"/>
              </a:srgbClr>
            </a:outerShdw>
          </a:effectLst>
        </p:spPr>
        <p:txBody>
          <a:bodyPr anchorCtr="0" anchor="t" bIns="182875" lIns="0" spcFirstLastPara="1" rIns="0" wrap="square" tIns="182875">
            <a:normAutofit/>
          </a:bodyPr>
          <a:lstStyle/>
          <a:p>
            <a:pPr indent="0" lvl="0" marL="9144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3F3F3"/>
                </a:solidFill>
                <a:latin typeface="Impact"/>
                <a:ea typeface="Impact"/>
                <a:cs typeface="Impact"/>
                <a:sym typeface="Impact"/>
              </a:rPr>
              <a:t>A Futuristic AI Solver for Sudoku and Kakuro Using Constraint Satisfaction</a:t>
            </a:r>
            <a:endParaRPr b="1">
              <a:solidFill>
                <a:srgbClr val="F3F3F3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3715900" y="2607150"/>
            <a:ext cx="4390200" cy="162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Md Mohaiminul Islam (2012138042)</a:t>
            </a:r>
            <a:endParaRPr sz="1600"/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Ishfaque Islam(2022513042)</a:t>
            </a:r>
            <a:endParaRPr sz="1600"/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Mahir Absar(2011684042)</a:t>
            </a:r>
            <a:endParaRPr sz="1600"/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Zahin Maisha Islam(2112154642)</a:t>
            </a:r>
            <a:endParaRPr sz="1600"/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Md Mahdiur Rahman(2021159642)</a:t>
            </a:r>
            <a:endParaRPr sz="1600"/>
          </a:p>
        </p:txBody>
      </p:sp>
      <p:sp>
        <p:nvSpPr>
          <p:cNvPr id="136" name="Google Shape;136;p13"/>
          <p:cNvSpPr txBox="1"/>
          <p:nvPr/>
        </p:nvSpPr>
        <p:spPr>
          <a:xfrm>
            <a:off x="3715900" y="2222250"/>
            <a:ext cx="5464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" name="Google Shape;137;p13"/>
          <p:cNvSpPr txBox="1"/>
          <p:nvPr/>
        </p:nvSpPr>
        <p:spPr>
          <a:xfrm>
            <a:off x="8506475" y="-1584725"/>
            <a:ext cx="9180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 txBox="1"/>
          <p:nvPr>
            <p:ph type="title"/>
          </p:nvPr>
        </p:nvSpPr>
        <p:spPr>
          <a:xfrm>
            <a:off x="925825" y="393750"/>
            <a:ext cx="74106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    CSP</a:t>
            </a:r>
            <a:endParaRPr/>
          </a:p>
        </p:txBody>
      </p:sp>
      <p:sp>
        <p:nvSpPr>
          <p:cNvPr id="143" name="Google Shape;143;p14"/>
          <p:cNvSpPr txBox="1"/>
          <p:nvPr>
            <p:ph idx="1" type="body"/>
          </p:nvPr>
        </p:nvSpPr>
        <p:spPr>
          <a:xfrm>
            <a:off x="648875" y="941550"/>
            <a:ext cx="8176800" cy="39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Variables: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The parts of the problem that need to be assigned values.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Example: In Sudoku, each cell in the 9×9 grid is a variable.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Domains: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The set of possible values for each variable.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Example: In Sudoku, each empty cell can take values from 1 to 9.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Constraints: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The rules or relationships between variables that must be satisfied.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Example: In Sudoku, the same number cannot appear more than once in a row, column, or 3×3 grid.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In Kakuro, the sum of numbers in a run must equal a specified value, and numbers cannot repeat within that run.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/>
          <p:nvPr>
            <p:ph type="title"/>
          </p:nvPr>
        </p:nvSpPr>
        <p:spPr>
          <a:xfrm>
            <a:off x="1297500" y="393750"/>
            <a:ext cx="7038900" cy="5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CSP in Puzzle Solver</a:t>
            </a:r>
            <a:endParaRPr/>
          </a:p>
        </p:txBody>
      </p:sp>
      <p:sp>
        <p:nvSpPr>
          <p:cNvPr id="149" name="Google Shape;149;p15"/>
          <p:cNvSpPr txBox="1"/>
          <p:nvPr>
            <p:ph idx="1" type="body"/>
          </p:nvPr>
        </p:nvSpPr>
        <p:spPr>
          <a:xfrm>
            <a:off x="1297500" y="1020775"/>
            <a:ext cx="6948000" cy="38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78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53"/>
              <a:buFont typeface="Arial"/>
              <a:buAutoNum type="arabicPeriod"/>
            </a:pPr>
            <a:r>
              <a:rPr b="1" lang="en" sz="1152">
                <a:latin typeface="Arial"/>
                <a:ea typeface="Arial"/>
                <a:cs typeface="Arial"/>
                <a:sym typeface="Arial"/>
              </a:rPr>
              <a:t>Variable Selection</a:t>
            </a:r>
            <a:br>
              <a:rPr b="1" lang="en" sz="1152">
                <a:latin typeface="Arial"/>
                <a:ea typeface="Arial"/>
                <a:cs typeface="Arial"/>
                <a:sym typeface="Arial"/>
              </a:rPr>
            </a:br>
            <a:endParaRPr b="1" sz="1152">
              <a:latin typeface="Arial"/>
              <a:ea typeface="Arial"/>
              <a:cs typeface="Arial"/>
              <a:sym typeface="Arial"/>
            </a:endParaRPr>
          </a:p>
          <a:p>
            <a:pPr indent="-30178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3"/>
              <a:buFont typeface="Arial"/>
              <a:buChar char="●"/>
            </a:pPr>
            <a:r>
              <a:rPr b="1" lang="en" sz="1152">
                <a:latin typeface="Arial"/>
                <a:ea typeface="Arial"/>
                <a:cs typeface="Arial"/>
                <a:sym typeface="Arial"/>
              </a:rPr>
              <a:t>MRV:</a:t>
            </a:r>
            <a:r>
              <a:rPr lang="en" sz="1152">
                <a:latin typeface="Arial"/>
                <a:ea typeface="Arial"/>
                <a:cs typeface="Arial"/>
                <a:sym typeface="Arial"/>
              </a:rPr>
              <a:t> Pick variable with fewest legal values</a:t>
            </a:r>
            <a:br>
              <a:rPr lang="en" sz="1152">
                <a:latin typeface="Arial"/>
                <a:ea typeface="Arial"/>
                <a:cs typeface="Arial"/>
                <a:sym typeface="Arial"/>
              </a:rPr>
            </a:br>
            <a:endParaRPr sz="1152">
              <a:latin typeface="Arial"/>
              <a:ea typeface="Arial"/>
              <a:cs typeface="Arial"/>
              <a:sym typeface="Arial"/>
            </a:endParaRPr>
          </a:p>
          <a:p>
            <a:pPr indent="-30178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3"/>
              <a:buFont typeface="Arial"/>
              <a:buChar char="●"/>
            </a:pPr>
            <a:r>
              <a:rPr b="1" lang="en" sz="1152">
                <a:latin typeface="Arial"/>
                <a:ea typeface="Arial"/>
                <a:cs typeface="Arial"/>
                <a:sym typeface="Arial"/>
              </a:rPr>
              <a:t>Degree Heuristic:</a:t>
            </a:r>
            <a:r>
              <a:rPr lang="en" sz="1152">
                <a:latin typeface="Arial"/>
                <a:ea typeface="Arial"/>
                <a:cs typeface="Arial"/>
                <a:sym typeface="Arial"/>
              </a:rPr>
              <a:t> Break ties using variable in most constraints</a:t>
            </a:r>
            <a:br>
              <a:rPr lang="en" sz="1152">
                <a:latin typeface="Arial"/>
                <a:ea typeface="Arial"/>
                <a:cs typeface="Arial"/>
                <a:sym typeface="Arial"/>
              </a:rPr>
            </a:br>
            <a:endParaRPr sz="1152">
              <a:latin typeface="Arial"/>
              <a:ea typeface="Arial"/>
              <a:cs typeface="Arial"/>
              <a:sym typeface="Arial"/>
            </a:endParaRPr>
          </a:p>
          <a:p>
            <a:pPr indent="-30178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3"/>
              <a:buFont typeface="Arial"/>
              <a:buAutoNum type="arabicPeriod" startAt="2"/>
            </a:pPr>
            <a:r>
              <a:rPr b="1" lang="en" sz="1152">
                <a:latin typeface="Arial"/>
                <a:ea typeface="Arial"/>
                <a:cs typeface="Arial"/>
                <a:sym typeface="Arial"/>
              </a:rPr>
              <a:t>Consistency Enforcement</a:t>
            </a:r>
            <a:br>
              <a:rPr b="1" lang="en" sz="1152">
                <a:latin typeface="Arial"/>
                <a:ea typeface="Arial"/>
                <a:cs typeface="Arial"/>
                <a:sym typeface="Arial"/>
              </a:rPr>
            </a:br>
            <a:endParaRPr b="1" sz="1152">
              <a:latin typeface="Arial"/>
              <a:ea typeface="Arial"/>
              <a:cs typeface="Arial"/>
              <a:sym typeface="Arial"/>
            </a:endParaRPr>
          </a:p>
          <a:p>
            <a:pPr indent="-30178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3"/>
              <a:buFont typeface="Arial"/>
              <a:buChar char="●"/>
            </a:pPr>
            <a:r>
              <a:rPr b="1" lang="en" sz="1152">
                <a:latin typeface="Arial"/>
                <a:ea typeface="Arial"/>
                <a:cs typeface="Arial"/>
                <a:sym typeface="Arial"/>
              </a:rPr>
              <a:t>AC-3:</a:t>
            </a:r>
            <a:r>
              <a:rPr lang="en" sz="1152">
                <a:latin typeface="Arial"/>
                <a:ea typeface="Arial"/>
                <a:cs typeface="Arial"/>
                <a:sym typeface="Arial"/>
              </a:rPr>
              <a:t> Remove inconsistent domain values</a:t>
            </a:r>
            <a:br>
              <a:rPr lang="en" sz="1152">
                <a:latin typeface="Arial"/>
                <a:ea typeface="Arial"/>
                <a:cs typeface="Arial"/>
                <a:sym typeface="Arial"/>
              </a:rPr>
            </a:br>
            <a:endParaRPr sz="1152">
              <a:latin typeface="Arial"/>
              <a:ea typeface="Arial"/>
              <a:cs typeface="Arial"/>
              <a:sym typeface="Arial"/>
            </a:endParaRPr>
          </a:p>
          <a:p>
            <a:pPr indent="-30178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3"/>
              <a:buFont typeface="Arial"/>
              <a:buChar char="●"/>
            </a:pPr>
            <a:r>
              <a:rPr b="1" lang="en" sz="1152">
                <a:latin typeface="Arial"/>
                <a:ea typeface="Arial"/>
                <a:cs typeface="Arial"/>
                <a:sym typeface="Arial"/>
              </a:rPr>
              <a:t>Forward Checking:</a:t>
            </a:r>
            <a:r>
              <a:rPr lang="en" sz="1152">
                <a:latin typeface="Arial"/>
                <a:ea typeface="Arial"/>
                <a:cs typeface="Arial"/>
                <a:sym typeface="Arial"/>
              </a:rPr>
              <a:t> Check neighbors after each assignment</a:t>
            </a:r>
            <a:br>
              <a:rPr lang="en" sz="1152">
                <a:latin typeface="Arial"/>
                <a:ea typeface="Arial"/>
                <a:cs typeface="Arial"/>
                <a:sym typeface="Arial"/>
              </a:rPr>
            </a:br>
            <a:endParaRPr sz="1152">
              <a:latin typeface="Arial"/>
              <a:ea typeface="Arial"/>
              <a:cs typeface="Arial"/>
              <a:sym typeface="Arial"/>
            </a:endParaRPr>
          </a:p>
          <a:p>
            <a:pPr indent="-30178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3"/>
              <a:buFont typeface="Arial"/>
              <a:buAutoNum type="arabicPeriod" startAt="3"/>
            </a:pPr>
            <a:r>
              <a:rPr b="1" lang="en" sz="1152">
                <a:latin typeface="Arial"/>
                <a:ea typeface="Arial"/>
                <a:cs typeface="Arial"/>
                <a:sym typeface="Arial"/>
              </a:rPr>
              <a:t>Backtracking</a:t>
            </a:r>
            <a:br>
              <a:rPr b="1" lang="en" sz="1152">
                <a:latin typeface="Arial"/>
                <a:ea typeface="Arial"/>
                <a:cs typeface="Arial"/>
                <a:sym typeface="Arial"/>
              </a:rPr>
            </a:br>
            <a:endParaRPr b="1" sz="1152">
              <a:latin typeface="Arial"/>
              <a:ea typeface="Arial"/>
              <a:cs typeface="Arial"/>
              <a:sym typeface="Arial"/>
            </a:endParaRPr>
          </a:p>
          <a:p>
            <a:pPr indent="-30178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3"/>
              <a:buFont typeface="Arial"/>
              <a:buChar char="●"/>
            </a:pPr>
            <a:r>
              <a:rPr lang="en" sz="1152">
                <a:latin typeface="Arial"/>
                <a:ea typeface="Arial"/>
                <a:cs typeface="Arial"/>
                <a:sym typeface="Arial"/>
              </a:rPr>
              <a:t>Undo assignment if constraints violated, try next value</a:t>
            </a:r>
            <a:br>
              <a:rPr lang="en" sz="1152">
                <a:latin typeface="Arial"/>
                <a:ea typeface="Arial"/>
                <a:cs typeface="Arial"/>
                <a:sym typeface="Arial"/>
              </a:rPr>
            </a:br>
            <a:endParaRPr sz="1152">
              <a:latin typeface="Arial"/>
              <a:ea typeface="Arial"/>
              <a:cs typeface="Arial"/>
              <a:sym typeface="Arial"/>
            </a:endParaRPr>
          </a:p>
          <a:p>
            <a:pPr indent="-30178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3"/>
              <a:buFont typeface="Arial"/>
              <a:buAutoNum type="arabicPeriod" startAt="4"/>
            </a:pPr>
            <a:r>
              <a:rPr b="1" lang="en" sz="1152">
                <a:latin typeface="Arial"/>
                <a:ea typeface="Arial"/>
                <a:cs typeface="Arial"/>
                <a:sym typeface="Arial"/>
              </a:rPr>
              <a:t>Value Ordering</a:t>
            </a:r>
            <a:br>
              <a:rPr b="1" lang="en" sz="1152">
                <a:latin typeface="Arial"/>
                <a:ea typeface="Arial"/>
                <a:cs typeface="Arial"/>
                <a:sym typeface="Arial"/>
              </a:rPr>
            </a:br>
            <a:endParaRPr b="1" sz="1152">
              <a:latin typeface="Arial"/>
              <a:ea typeface="Arial"/>
              <a:cs typeface="Arial"/>
              <a:sym typeface="Arial"/>
            </a:endParaRPr>
          </a:p>
          <a:p>
            <a:pPr indent="-30178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3"/>
              <a:buFont typeface="Arial"/>
              <a:buChar char="●"/>
            </a:pPr>
            <a:r>
              <a:rPr b="1" lang="en" sz="1152">
                <a:latin typeface="Arial"/>
                <a:ea typeface="Arial"/>
                <a:cs typeface="Arial"/>
                <a:sym typeface="Arial"/>
              </a:rPr>
              <a:t>LCV:</a:t>
            </a:r>
            <a:r>
              <a:rPr lang="en" sz="1152">
                <a:latin typeface="Arial"/>
                <a:ea typeface="Arial"/>
                <a:cs typeface="Arial"/>
                <a:sym typeface="Arial"/>
              </a:rPr>
              <a:t> Choose value that least restricts neighbors</a:t>
            </a:r>
            <a:endParaRPr sz="1152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t/>
            </a:r>
            <a:endParaRPr sz="1307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Sudoku Solver Implementation</a:t>
            </a:r>
            <a:endParaRPr/>
          </a:p>
        </p:txBody>
      </p:sp>
      <p:sp>
        <p:nvSpPr>
          <p:cNvPr id="155" name="Google Shape;155;p16"/>
          <p:cNvSpPr txBox="1"/>
          <p:nvPr>
            <p:ph idx="1" type="body"/>
          </p:nvPr>
        </p:nvSpPr>
        <p:spPr>
          <a:xfrm>
            <a:off x="1297500" y="13078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Sudoku module models each of the 81 cells as CSP variables with domains {1–9}, constrained by row, column, and 3×3 sub-grid uniqueness rules.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Domain reduction removes digits already present in related units, then applies AC-3 preprocessing and forward checking during search.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pipeline eliminates 60–80% of candidate values before backtracking begins, greatly shrinking the search space.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Empirical tests show typical puzzles solve in 50–200 explored nodes and under 100 ms.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Complexity is worst-case O(9ⁿ), but with AC-3 and MRV heuristics the practical average improves to roughly O(9ⁿ⁄³).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Kakuro Solver Implementation </a:t>
            </a:r>
            <a:endParaRPr/>
          </a:p>
        </p:txBody>
      </p:sp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1297500" y="12048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Kakuro solver models each white cell as a CSP variable with domains {1–9}, constrained by run-sum rules, uniqueness within runs, and partial-sum limits.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system detects all horizontal and vertical runs and cross-references intersecting cells, which must satisfy multiple sum constraints simultaneously.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Unique digit-partition tables greatly prune domains by enforcing exact value sets for specific run–sum combinations.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These optimizations significantly reduce the search space and allow powerful early pruning before backtracking.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Complexity is worst-case O(9ⁿ), but in practice the branching factor drops by 40–60%, yielding 10–1000 explored nodes per puzzle.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1265600" y="492100"/>
            <a:ext cx="70389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Application Architecture </a:t>
            </a:r>
            <a:endParaRPr/>
          </a:p>
        </p:txBody>
      </p:sp>
      <p:sp>
        <p:nvSpPr>
          <p:cNvPr id="167" name="Google Shape;167;p18"/>
          <p:cNvSpPr txBox="1"/>
          <p:nvPr>
            <p:ph idx="1" type="body"/>
          </p:nvPr>
        </p:nvSpPr>
        <p:spPr>
          <a:xfrm>
            <a:off x="1183151" y="1081750"/>
            <a:ext cx="8267700" cy="34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Single-page web app built with HTML5, CSS3, JavaScript, and Canvas API</a:t>
            </a:r>
            <a:endParaRPr/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Modular architecture separating CSP engine, puzzle solvers, visualization, and utilities</a:t>
            </a:r>
            <a:endParaRPr/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Real-time visualization of assignments, conflicts, and backtracking</a:t>
            </a:r>
            <a:endParaRPr/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/>
              <a:t>User-controlled solving with step-by-step mode, speed control, and performance stats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Educational interface explaining CSP concepts and heuristics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21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title"/>
          </p:nvPr>
        </p:nvSpPr>
        <p:spPr>
          <a:xfrm>
            <a:off x="1323000" y="519500"/>
            <a:ext cx="70389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Benchmarking Methodology </a:t>
            </a:r>
            <a:endParaRPr/>
          </a:p>
        </p:txBody>
      </p:sp>
      <p:sp>
        <p:nvSpPr>
          <p:cNvPr id="173" name="Google Shape;173;p19"/>
          <p:cNvSpPr txBox="1"/>
          <p:nvPr>
            <p:ph idx="1" type="body"/>
          </p:nvPr>
        </p:nvSpPr>
        <p:spPr>
          <a:xfrm>
            <a:off x="1464300" y="1326750"/>
            <a:ext cx="7579800" cy="24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Benchmarked on 120 Sudoku (Easy–Expert) and 80 Kakuro puzzles (small–large grids)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Performance measured by solving time, nodes explored, and success rate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Heuristic ablation analysis shows large search cost increases when AC-3 or MRV is removed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Combined AC-3, MRV, and forward checking achieves 10–15× efficiency improvement over naive backtracking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21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AND DISCUSSION </a:t>
            </a:r>
            <a:endParaRPr/>
          </a:p>
        </p:txBody>
      </p:sp>
      <p:sp>
        <p:nvSpPr>
          <p:cNvPr id="179" name="Google Shape;179;p20"/>
          <p:cNvSpPr txBox="1"/>
          <p:nvPr>
            <p:ph idx="1" type="body"/>
          </p:nvPr>
        </p:nvSpPr>
        <p:spPr>
          <a:xfrm>
            <a:off x="1297500" y="1116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Sudoku solver was evaluated on 120 puzzles across Easy, Medium, Hard, and Expert levels with near-perfect success rates.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Easy puzzles required 45–80 nodes, while Expert puzzles needed 1500–5000 nodes and up to 2500 ms to solve.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AC-3 alone reduced node counts by 60–75%, and MRV added another 40–55% reduction.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combined AC-3 + MRV + forward checking pipeline produced a 10–15× improvement over naive backtracking.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Initial domain reduction removed 55–73% of candidate values, proving essential for handling Hard and Expert puzzles efficiently.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Kakuro Solver Performance </a:t>
            </a:r>
            <a:endParaRPr/>
          </a:p>
        </p:txBody>
      </p:sp>
      <p:sp>
        <p:nvSpPr>
          <p:cNvPr id="185" name="Google Shape;185;p21"/>
          <p:cNvSpPr txBox="1"/>
          <p:nvPr>
            <p:ph idx="1" type="body"/>
          </p:nvPr>
        </p:nvSpPr>
        <p:spPr>
          <a:xfrm>
            <a:off x="1297500" y="13078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Kakuro was evaluated on 80 puzzles across 4×4, 7×7, and 10×10 grids, showing increasing complexity with puzzle size.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Small puzzles solved in 10–30 nodes, while large puzzles required 500–2000 nodes with near-perfect success rates.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Unique partition detection reduced the branching factor by 40–60%, and domain pruning reached 75–85% before search.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Cross-referenced intersection cells added another 20–35% reduction in explored nodes.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Kakuro consistently required 1.5–2× more nodes than Sudoku of comparable size due to more complex arithmetic constraints.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Application Performance </a:t>
            </a:r>
            <a:endParaRPr/>
          </a:p>
        </p:txBody>
      </p:sp>
      <p:sp>
        <p:nvSpPr>
          <p:cNvPr id="191" name="Google Shape;191;p22"/>
          <p:cNvSpPr txBox="1"/>
          <p:nvPr>
            <p:ph idx="1" type="body"/>
          </p:nvPr>
        </p:nvSpPr>
        <p:spPr>
          <a:xfrm>
            <a:off x="1297500" y="1116150"/>
            <a:ext cx="7038900" cy="2911200"/>
          </a:xfrm>
          <a:prstGeom prst="rect">
            <a:avLst/>
          </a:prstGeom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web app loads quickly, with initial page load times between 200–400 ms and UI interactions responding in under 50 ms.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Real-time visualization runs smoothly at 60 FPS on modern devices.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Testing confirmed full compatibility across major browsers, including desktop and mobile versions.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Users reported that the visual step-by-step solver improved their understanding of CSP techniques and backtracking.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Overall, the interface delivers high responsiveness, cross-platform stability, and strong educational value.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97" name="Google Shape;197;p23"/>
          <p:cNvSpPr txBox="1"/>
          <p:nvPr>
            <p:ph idx="1" type="body"/>
          </p:nvPr>
        </p:nvSpPr>
        <p:spPr>
          <a:xfrm>
            <a:off x="1366400" y="1179125"/>
            <a:ext cx="7214700" cy="31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➔"/>
            </a:pPr>
            <a:r>
              <a:rPr lang="en"/>
              <a:t>The paper presents a unified AI solver for Sudoku and Kakuro using a generic CSP framework.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➔"/>
            </a:pPr>
            <a:r>
              <a:rPr lang="en"/>
              <a:t>It formalizes puzzle models and integrates backtracking, AC-3, MRV, degree heuristics, LCV, and forward checking in a reusable JavaScript core.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➔"/>
            </a:pPr>
            <a:r>
              <a:rPr lang="en"/>
              <a:t>A modular single-page web app separates solver logic, visualization, and UI for extensibility across platforms.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➔"/>
            </a:pPr>
            <a:r>
              <a:rPr lang="en"/>
              <a:t>Empirical benchmarking on 200 puzzles shows sub-second solve times and 10–15× efficiency gains from algorithmic optimizations.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➔"/>
            </a:pPr>
            <a:r>
              <a:rPr lang="en"/>
              <a:t>Interactive visualization and step-by-step modes make the system a valuable educational tool for learning CSP concepts.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Findings and Future Directions</a:t>
            </a:r>
            <a:endParaRPr/>
          </a:p>
        </p:txBody>
      </p:sp>
      <p:sp>
        <p:nvSpPr>
          <p:cNvPr id="203" name="Google Shape;203;p24"/>
          <p:cNvSpPr txBox="1"/>
          <p:nvPr>
            <p:ph idx="1" type="body"/>
          </p:nvPr>
        </p:nvSpPr>
        <p:spPr>
          <a:xfrm>
            <a:off x="994825" y="1227675"/>
            <a:ext cx="7341600" cy="32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❖"/>
            </a:pPr>
            <a:r>
              <a:rPr lang="en"/>
              <a:t>Combining AC-3, MRV, and forward checking yields multiplicative performance gains, with Kakuro proving 1.5–2× harder than Sudoku.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❖"/>
            </a:pPr>
            <a:r>
              <a:rPr lang="en"/>
              <a:t>Preprocessing via domain reduction accounts for the majority of efficiency improvements, especially on harder puzzles.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❖"/>
            </a:pPr>
            <a:r>
              <a:rPr lang="en"/>
              <a:t>Web-based deployment using HTML5, Canvas, and JavaScript enables interactive visualization and educational outreach.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❖"/>
            </a:pPr>
            <a:r>
              <a:rPr lang="en"/>
              <a:t>Current limitations include focus on standard Sudoku/Kakuro, small pilot studies, and lack of comparison with advanced solvers; future work targets new puzzle types, higher-level consistencies, ML-based difficulty prediction, and mobile/web enhancements.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❖"/>
            </a:pPr>
            <a:r>
              <a:rPr lang="en"/>
              <a:t>Overall, the solver demonstrates that classical CSP techniques remain powerful and educationally valuable, supported by modular, reusable architecture and engaging visualization.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